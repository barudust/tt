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6"/>
    <p:sldId id="261" r:id="rId5"/>
    <p:sldId id="262" r:id="rId4"/>
    <p:sldId id="263" r:id="rId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43"/>
    <p:restoredTop sz="96868"/>
  </p:normalViewPr>
  <p:slideViewPr>
    <p:cSldViewPr snapToGrid="0" snapToObjects="1" showGuides="1">
      <p:cViewPr>
        <p:scale>
          <a:sx n="96" d="100"/>
          <a:sy n="96" d="100"/>
        </p:scale>
        <p:origin x="1696" y="8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ayout>
        <c:manualLayout>
          <c:layoutTarget val="inner"/>
          <c:xMode val="edge"/>
          <c:yMode val="edge"/>
          <c:x val="0.08"/>
          <c:y val="0.04"/>
          <c:w val="0.82"/>
          <c:h val="0.74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LR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sz="1300" b="1">
                    <a:solidFill>
                      <a:srgbClr val="1F2937"/>
                    </a:solidFill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Exp A · 10 years</c:v>
                </c:pt>
                <c:pt idx="1">
                  <c:v>Exp B · 6 years</c:v>
                </c:pt>
                <c:pt idx="2">
                  <c:v>Exp C · 4 years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0.411</c:v>
                </c:pt>
                <c:pt idx="1">
                  <c:v>0.385</c:v>
                </c:pt>
                <c:pt idx="2">
                  <c:v>0.401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EB6834"/>
            </a:solidFill>
            <a:ln>
              <a:noFill/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Exp A · 10 years</c:v>
                </c:pt>
                <c:pt idx="1">
                  <c:v>Exp B · 6 years</c:v>
                </c:pt>
                <c:pt idx="2">
                  <c:v>Exp C · 4 years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0.396</c:v>
                </c:pt>
                <c:pt idx="1">
                  <c:v>0.386</c:v>
                </c:pt>
                <c:pt idx="2">
                  <c:v>0.373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LSTM</c:v>
                </c:pt>
              </c:strCache>
            </c:strRef>
          </c:tx>
          <c:spPr>
            <a:solidFill>
              <a:srgbClr val="1BAF7A"/>
            </a:solidFill>
            <a:ln>
              <a:noFill/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Exp A · 10 years</c:v>
                </c:pt>
                <c:pt idx="1">
                  <c:v>Exp B · 6 years</c:v>
                </c:pt>
                <c:pt idx="2">
                  <c:v>Exp C · 4 years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0.389</c:v>
                </c:pt>
                <c:pt idx="1">
                  <c:v>0.37</c:v>
                </c:pt>
                <c:pt idx="2">
                  <c:v>0.37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CNN-LSTM</c:v>
                </c:pt>
              </c:strCache>
            </c:strRef>
          </c:tx>
          <c:spPr>
            <a:solidFill>
              <a:srgbClr val="EDA100"/>
            </a:solidFill>
            <a:ln>
              <a:noFill/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Exp A · 10 years</c:v>
                </c:pt>
                <c:pt idx="1">
                  <c:v>Exp B · 6 years</c:v>
                </c:pt>
                <c:pt idx="2">
                  <c:v>Exp C · 4 years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0.376</c:v>
                </c:pt>
                <c:pt idx="1">
                  <c:v>0.384</c:v>
                </c:pt>
                <c:pt idx="2">
                  <c:v>0.371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1-D CNN</c:v>
                </c:pt>
              </c:strCache>
            </c:strRef>
          </c:tx>
          <c:spPr>
            <a:solidFill>
              <a:srgbClr val="E87BA4"/>
            </a:solidFill>
            <a:ln>
              <a:noFill/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Exp A · 10 years</c:v>
                </c:pt>
                <c:pt idx="1">
                  <c:v>Exp B · 6 years</c:v>
                </c:pt>
                <c:pt idx="2">
                  <c:v>Exp C · 4 years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0.361</c:v>
                </c:pt>
                <c:pt idx="1">
                  <c:v>0.343</c:v>
                </c:pt>
                <c:pt idx="2">
                  <c:v>0.373</c:v>
                </c:pt>
              </c:numCache>
            </c:numRef>
          </c:val>
        </c:ser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8BDC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42"/>
          <c:min val="0.3"/>
        </c:scaling>
        <c:delete val="0"/>
        <c:axPos val="l"/>
        <c:majorGridlines>
          <c:spPr>
            <a:ln w="9525">
              <a:solidFill>
                <a:srgbClr val="E3E6EC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0.02"/>
      </c:valAx>
    </c:plotArea>
    <c:legend>
      <c:legendPos val="b"/>
      <c:overlay val="0"/>
      <c:txPr>
        <a:bodyPr/>
        <a:lstStyle/>
        <a:p>
          <a:pPr>
            <a:defRPr sz="1400"/>
          </a:pPr>
        </a:p>
      </c:txPr>
    </c:legend>
    <c:dispBlanksAs val="gap"/>
  </c:chart>
  <c:txPr>
    <a:bodyPr/>
    <a:lstStyle/>
    <a:p>
      <a:pPr>
        <a:defRPr sz="1400">
          <a:solidFill>
            <a:srgbClr val="4B556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ayout>
        <c:manualLayout>
          <c:layoutTarget val="inner"/>
          <c:xMode val="edge"/>
          <c:yMode val="edge"/>
          <c:x val="0.1"/>
          <c:y val="0.04"/>
          <c:w val="0.88"/>
          <c:h val="0.74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LR</c:v>
                </c:pt>
              </c:strCache>
            </c:strRef>
          </c:tx>
          <c:spPr>
            <a:solidFill>
              <a:srgbClr val="2A78D6"/>
            </a:solidFill>
            <a:ln>
              <a:noFill/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Exp A</c:v>
                </c:pt>
                <c:pt idx="1">
                  <c:v>Exp B</c:v>
                </c:pt>
                <c:pt idx="2">
                  <c:v>Exp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0.024</c:v>
                </c:pt>
                <c:pt idx="1">
                  <c:v>0.026</c:v>
                </c:pt>
                <c:pt idx="2">
                  <c:v>0.021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EB6834"/>
            </a:solidFill>
            <a:ln>
              <a:noFill/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Exp A</c:v>
                </c:pt>
                <c:pt idx="1">
                  <c:v>Exp B</c:v>
                </c:pt>
                <c:pt idx="2">
                  <c:v>Exp 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0.009</c:v>
                </c:pt>
                <c:pt idx="1">
                  <c:v>0.021</c:v>
                </c:pt>
                <c:pt idx="2">
                  <c:v>0.022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LSTM</c:v>
                </c:pt>
              </c:strCache>
            </c:strRef>
          </c:tx>
          <c:spPr>
            <a:solidFill>
              <a:srgbClr val="1BAF7A"/>
            </a:solidFill>
            <a:ln>
              <a:noFill/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Exp A</c:v>
                </c:pt>
                <c:pt idx="1">
                  <c:v>Exp B</c:v>
                </c:pt>
                <c:pt idx="2">
                  <c:v>Exp C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0.039</c:v>
                </c:pt>
                <c:pt idx="1">
                  <c:v>0.036</c:v>
                </c:pt>
                <c:pt idx="2">
                  <c:v>-0.006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CNN-LSTM</c:v>
                </c:pt>
              </c:strCache>
            </c:strRef>
          </c:tx>
          <c:spPr>
            <a:solidFill>
              <a:srgbClr val="EDA100"/>
            </a:solidFill>
            <a:ln>
              <a:noFill/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Exp A</c:v>
                </c:pt>
                <c:pt idx="1">
                  <c:v>Exp B</c:v>
                </c:pt>
                <c:pt idx="2">
                  <c:v>Exp C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-0.011</c:v>
                </c:pt>
                <c:pt idx="1">
                  <c:v>0.02</c:v>
                </c:pt>
                <c:pt idx="2">
                  <c:v>-0.026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1-D CNN</c:v>
                </c:pt>
              </c:strCache>
            </c:strRef>
          </c:tx>
          <c:spPr>
            <a:solidFill>
              <a:srgbClr val="E87BA4"/>
            </a:solidFill>
            <a:ln>
              <a:noFill/>
            </a:ln>
          </c:spPr>
          <c:invertIfNegative val="0"/>
          <c:cat>
            <c:strRef>
              <c:f>Sheet1!$A$2:$A$4</c:f>
              <c:strCache>
                <c:ptCount val="3"/>
                <c:pt idx="0">
                  <c:v>Exp A</c:v>
                </c:pt>
                <c:pt idx="1">
                  <c:v>Exp B</c:v>
                </c:pt>
                <c:pt idx="2">
                  <c:v>Exp C</c:v>
                </c:pt>
              </c:strCache>
            </c: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0.035</c:v>
                </c:pt>
                <c:pt idx="1">
                  <c:v>-0.025</c:v>
                </c:pt>
                <c:pt idx="2">
                  <c:v>0.011</c:v>
                </c:pt>
              </c:numCache>
            </c:numRef>
          </c:val>
        </c:ser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8BDC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45"/>
          <c:min val="-0.03"/>
        </c:scaling>
        <c:delete val="0"/>
        <c:axPos val="l"/>
        <c:majorGridlines>
          <c:spPr>
            <a:ln w="9525">
              <a:solidFill>
                <a:srgbClr val="E3E6EC"/>
              </a:solidFill>
            </a:ln>
          </c:spPr>
        </c:majorGridlines>
        <c:numFmt formatCode="+0.000;-0.000;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0.015"/>
      </c:valAx>
    </c:plotArea>
    <c:legend>
      <c:legendPos val="b"/>
      <c:overlay val="0"/>
      <c:txPr>
        <a:bodyPr/>
        <a:lstStyle/>
        <a:p>
          <a:pPr>
            <a:defRPr sz="1400"/>
          </a:pPr>
        </a:p>
      </c:txPr>
    </c:legend>
    <c:dispBlanksAs val="gap"/>
  </c:chart>
  <c:txPr>
    <a:bodyPr/>
    <a:lstStyle/>
    <a:p>
      <a:pPr>
        <a:defRPr sz="1400">
          <a:solidFill>
            <a:srgbClr val="4B556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ayout>
        <c:manualLayout>
          <c:layoutTarget val="inner"/>
          <c:xMode val="edge"/>
          <c:yMode val="edge"/>
          <c:x val="0.1"/>
          <c:y val="0.04"/>
          <c:w val="0.8"/>
          <c:h val="0.74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LR
0.404</c:v>
                </c:pt>
                <c:pt idx="1">
                  <c:v>CNN-LSTM
0.372</c:v>
                </c:pt>
                <c:pt idx="2">
                  <c:v>LSTM
0.369</c:v>
                </c:pt>
                <c:pt idx="3">
                  <c:v>XGBoost
0.359</c:v>
                </c:pt>
                <c:pt idx="4">
                  <c:v>1-D CNN
0.359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0.379</c:v>
                </c:pt>
                <c:pt idx="1">
                  <c:v>0.346</c:v>
                </c:pt>
                <c:pt idx="2">
                  <c:v>0.341</c:v>
                </c:pt>
                <c:pt idx="3">
                  <c:v>0.334</c:v>
                </c:pt>
                <c:pt idx="4">
                  <c:v>0.332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lower</c:v>
                </c:pt>
              </c:strCache>
            </c:strRef>
          </c:tx>
          <c:dPt>
            <c:idx val="0"/>
            <c:spPr>
              <a:solidFill>
                <a:srgbClr val="2A78D6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DA100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1BAF7A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EB6834"/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E87BA4"/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LR
0.404</c:v>
                </c:pt>
                <c:pt idx="1">
                  <c:v>CNN-LSTM
0.372</c:v>
                </c:pt>
                <c:pt idx="2">
                  <c:v>LSTM
0.369</c:v>
                </c:pt>
                <c:pt idx="3">
                  <c:v>XGBoost
0.359</c:v>
                </c:pt>
                <c:pt idx="4">
                  <c:v>1-D CNN
0.359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0.025000000000000022</c:v>
                </c:pt>
                <c:pt idx="1">
                  <c:v>0.026000000000000023</c:v>
                </c:pt>
                <c:pt idx="2">
                  <c:v>0.02799999999999997</c:v>
                </c:pt>
                <c:pt idx="3">
                  <c:v>0.024999999999999967</c:v>
                </c:pt>
                <c:pt idx="4">
                  <c:v>0.02699999999999997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upper</c:v>
                </c:pt>
              </c:strCache>
            </c:strRef>
          </c:tx>
          <c:dPt>
            <c:idx val="0"/>
            <c:spPr>
              <a:solidFill>
                <a:srgbClr val="2A78D6">
                  <a:alpha val="45000"/>
                </a:srgbClr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EDA100">
                  <a:alpha val="45000"/>
                </a:srgbClr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1BAF7A">
                  <a:alpha val="45000"/>
                </a:srgbClr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EB6834">
                  <a:alpha val="45000"/>
                </a:srgbClr>
              </a:solidFill>
              <a:ln w="19050">
                <a:solidFill>
                  <a:srgbClr val="FFFFFF"/>
                </a:solidFill>
              </a:ln>
            </c:spPr>
          </c:dPt>
          <c:dPt>
            <c:idx val="4"/>
            <c:spPr>
              <a:solidFill>
                <a:srgbClr val="E87BA4">
                  <a:alpha val="45000"/>
                </a:srgbClr>
              </a:solidFill>
              <a:ln w="19050">
                <a:solidFill>
                  <a:srgbClr val="FFFFFF"/>
                </a:solidFill>
              </a:ln>
            </c:spPr>
          </c:dPt>
          <c:cat>
            <c:strRef>
              <c:f>Sheet1!$A$2:$A$6</c:f>
              <c:strCache>
                <c:ptCount val="5"/>
                <c:pt idx="0">
                  <c:v>LR
0.404</c:v>
                </c:pt>
                <c:pt idx="1">
                  <c:v>CNN-LSTM
0.372</c:v>
                </c:pt>
                <c:pt idx="2">
                  <c:v>LSTM
0.369</c:v>
                </c:pt>
                <c:pt idx="3">
                  <c:v>XGBoost
0.359</c:v>
                </c:pt>
                <c:pt idx="4">
                  <c:v>1-D CNN
0.359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0.023999999999999966</c:v>
                </c:pt>
                <c:pt idx="1">
                  <c:v>0.02300000000000002</c:v>
                </c:pt>
                <c:pt idx="2">
                  <c:v>0.026000000000000023</c:v>
                </c:pt>
                <c:pt idx="3">
                  <c:v>0.02200000000000002</c:v>
                </c:pt>
                <c:pt idx="4">
                  <c:v>0.027000000000000024</c:v>
                </c:pt>
              </c:numCache>
            </c:numRef>
          </c:val>
        </c:ser>
        <c:gapWidth val="14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8BDC6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44"/>
          <c:min val="0.32"/>
        </c:scaling>
        <c:delete val="0"/>
        <c:axPos val="l"/>
        <c:majorGridlines>
          <c:spPr>
            <a:ln w="9525">
              <a:solidFill>
                <a:srgbClr val="E3E6EC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  <c:majorUnit val="0.02"/>
      </c:valAx>
    </c:plotArea>
    <c:dispBlanksAs val="gap"/>
  </c:chart>
  <c:txPr>
    <a:bodyPr/>
    <a:lstStyle/>
    <a:p>
      <a:pPr>
        <a:defRPr sz="1400">
          <a:solidFill>
            <a:srgbClr val="4B556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1 · 30 s</a:t>
            </a:r>
          </a:p>
          <a:p/>
          <a:p>
            <a:r>
              <a:t>Good morning, everyone.</a:t>
            </a:r>
          </a:p>
          <a:p>
            <a:r>
              <a:t>My name is [NAME], and this is my colleague [NAME].</a:t>
            </a:r>
          </a:p>
          <a:p>
            <a:r>
              <a:t>We are from ESCOM, at the Instituto Politécnico Nacional, in Mexico City.</a:t>
            </a:r>
          </a:p>
          <a:p>
            <a:r>
              <a:t>Today we present a benchmark of five machine learning models for daily trading signals.</a:t>
            </a:r>
          </a:p>
          <a:p/>
          <a:p>
            <a:r>
              <a:t>ES:</a:t>
            </a:r>
          </a:p>
          <a:p>
            <a:r>
              <a:t>Buenos días a todos.</a:t>
            </a:r>
          </a:p>
          <a:p>
            <a:r>
              <a:t>Me llamo [NOMBRE] y él/ella es mi compañero(a) [NOMBRE].</a:t>
            </a:r>
          </a:p>
          <a:p>
            <a:r>
              <a:t>Somos de ESCOM, del Instituto Politécnico Nacional, en la Ciudad de México.</a:t>
            </a:r>
          </a:p>
          <a:p>
            <a:r>
              <a:t>Hoy presentamos una comparación de cinco modelos de aprendizaje automático para señales diarias de trading.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1 · 50 s</a:t>
            </a:r>
          </a:p>
          <a:p/>
          <a:p>
            <a:r>
              <a:t>Our question is simple: do deep networks beat simple models for daily trading signals?</a:t>
            </a:r>
          </a:p>
          <a:p>
            <a:r>
              <a:t>Many papers compare only one or two models.</a:t>
            </a:r>
          </a:p>
          <a:p>
            <a:r>
              <a:t>They often report accuracy or RMSE. These numbers do not tell us if a strategy makes money.</a:t>
            </a:r>
          </a:p>
          <a:p>
            <a:r>
              <a:t>And many papers remove features with statistical filters, but they do not check if this helps.</a:t>
            </a:r>
          </a:p>
          <a:p>
            <a:r>
              <a:t>So we made a fair test with five models, measured as classification and as a trading strategy.</a:t>
            </a:r>
          </a:p>
          <a:p/>
          <a:p>
            <a:r>
              <a:t>ES:</a:t>
            </a:r>
          </a:p>
          <a:p>
            <a:r>
              <a:t>Nuestra pregunta es simple: ¿las redes profundas le ganan a los modelos simples en señales diarias de trading?</a:t>
            </a:r>
          </a:p>
          <a:p>
            <a:r>
              <a:t>Muchos artículos comparan solo uno o dos modelos.</a:t>
            </a:r>
          </a:p>
          <a:p>
            <a:r>
              <a:t>Muchas veces reportan accuracy o RMSE. Esos números no dicen si una estrategia gana dinero.</a:t>
            </a:r>
          </a:p>
          <a:p>
            <a:r>
              <a:t>Y muchos artículos quitan variables con filtros estadísticos, pero no revisan si eso ayuda.</a:t>
            </a:r>
          </a:p>
          <a:p>
            <a:r>
              <a:t>Así que hicimos una prueba justa con cinco modelos, medida como clasificación y como estrategia de trading.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1 · 70 s</a:t>
            </a:r>
          </a:p>
          <a:p/>
          <a:p>
            <a:r>
              <a:t>We use seven big tech stocks: Apple, NVIDIA, Tesla, Amazon, Microsoft, Google and Meta.</a:t>
            </a:r>
          </a:p>
          <a:p>
            <a:r>
              <a:t>The data is free, from Yahoo Finance, from 2013 to 2025.</a:t>
            </a:r>
          </a:p>
          <a:p>
            <a:r>
              <a:t>Every day, each stock gets one label: buy, hold or sell.</a:t>
            </a:r>
          </a:p>
          <a:p>
            <a:r>
              <a:t>We compare tomorrow's return with the last 252 days.</a:t>
            </a:r>
          </a:p>
          <a:p>
            <a:r>
              <a:t>If it is in the top 30 percent, the label is buy. If it is in the bottom 30 percent, the label is sell. The rest is hold.</a:t>
            </a:r>
          </a:p>
          <a:p>
            <a:r>
              <a:t>So the label changes with the volatility, and it only uses past data.</a:t>
            </a:r>
          </a:p>
          <a:p>
            <a:r>
              <a:t>The input is 61 technical features, plus the S&amp;P 500 and the VIX.</a:t>
            </a:r>
          </a:p>
          <a:p/>
          <a:p>
            <a:r>
              <a:t>ES:</a:t>
            </a:r>
          </a:p>
          <a:p>
            <a:r>
              <a:t>Usamos siete acciones tecnológicas grandes: Apple, NVIDIA, Tesla, Amazon, Microsoft, Google y Meta.</a:t>
            </a:r>
          </a:p>
          <a:p>
            <a:r>
              <a:t>Los datos son gratis, de Yahoo Finance, de 2013 a 2025.</a:t>
            </a:r>
          </a:p>
          <a:p>
            <a:r>
              <a:t>Cada día, cada acción recibe una etiqueta: comprar, mantener o vender.</a:t>
            </a:r>
          </a:p>
          <a:p>
            <a:r>
              <a:t>Comparamos el retorno de mañana con los últimos 252 días.</a:t>
            </a:r>
          </a:p>
          <a:p>
            <a:r>
              <a:t>Si está en el 30 % más alto, la etiqueta es comprar. Si está en el 30 % más bajo, es vender. Lo demás es mantener.</a:t>
            </a:r>
          </a:p>
          <a:p>
            <a:r>
              <a:t>Así la etiqueta se adapta a la volatilidad y solo usa datos del pasado.</a:t>
            </a:r>
          </a:p>
          <a:p>
            <a:r>
              <a:t>La entrada son 61 variables técnicas, más el S&amp;P 500 y el VIX.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1 · 55 s</a:t>
            </a:r>
          </a:p>
          <a:p/>
          <a:p>
            <a:r>
              <a:t>We compare five models.</a:t>
            </a:r>
          </a:p>
          <a:p>
            <a:r>
              <a:t>Two classical models: logistic regression and XGBoost.</a:t>
            </a:r>
          </a:p>
          <a:p>
            <a:r>
              <a:t>And three deep networks: an LSTM, a one-dimensional CNN, and a hybrid CNN-LSTM.</a:t>
            </a:r>
          </a:p>
          <a:p>
            <a:r>
              <a:t>We use three splits. All of them test on the same year, 2025. Only the training history changes: ten, six or four years.</a:t>
            </a:r>
          </a:p>
          <a:p>
            <a:r>
              <a:t>We train one global model and one model per stock. In total, 120 runs.</a:t>
            </a:r>
          </a:p>
          <a:p>
            <a:r>
              <a:t>Our main metric is macro-F1, and we also simulate a simple trading strategy.</a:t>
            </a:r>
          </a:p>
          <a:p/>
          <a:p>
            <a:r>
              <a:t>→ Now, my colleague will show the results.</a:t>
            </a:r>
          </a:p>
          <a:p/>
          <a:p>
            <a:r>
              <a:t>ES:</a:t>
            </a:r>
          </a:p>
          <a:p>
            <a:r>
              <a:t>Comparamos cinco modelos.</a:t>
            </a:r>
          </a:p>
          <a:p>
            <a:r>
              <a:t>Dos modelos clásicos: regresión logística y XGBoost.</a:t>
            </a:r>
          </a:p>
          <a:p>
            <a:r>
              <a:t>Y tres redes profundas: una LSTM, una CNN de una dimensión y una híbrida CNN-LSTM.</a:t>
            </a:r>
          </a:p>
          <a:p>
            <a:r>
              <a:t>Usamos tres particiones. Todas prueban en el mismo año, 2025. Solo cambia la historia de entrenamiento: diez, seis o cuatro años.</a:t>
            </a:r>
          </a:p>
          <a:p>
            <a:r>
              <a:t>Entrenamos un modelo global y un modelo por acción. En total, 120 corridas.</a:t>
            </a:r>
          </a:p>
          <a:p>
            <a:r>
              <a:t>Nuestra métrica principal es F1-macro y también simulamos una estrategia de trading sencilla.</a:t>
            </a:r>
          </a:p>
          <a:p>
            <a:r>
              <a:t>→ Ahora mi compañero(a) va a mostrar los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2 · 60 s</a:t>
            </a:r>
          </a:p>
          <a:p/>
          <a:p>
            <a:r>
              <a:t>Thank you. Here is the first result.</a:t>
            </a:r>
          </a:p>
          <a:p>
            <a:r>
              <a:t>Each group is one split. The blue bar is logistic regression.</a:t>
            </a:r>
          </a:p>
          <a:p>
            <a:r>
              <a:t>It has the best average macro-F1: zero point three nine nine.</a:t>
            </a:r>
          </a:p>
          <a:p>
            <a:r>
              <a:t>It wins in splits A and C, and XGBoost is very close in split B.</a:t>
            </a:r>
          </a:p>
          <a:p>
            <a:r>
              <a:t>The dashed line is random guessing: zero point three three three. So the signal is small, but it is there.</a:t>
            </a:r>
          </a:p>
          <a:p>
            <a:r>
              <a:t>In money, logistic regression is also the best in the main split: Sharpe ratio zero point seven six, and profit factor one point two one.</a:t>
            </a:r>
          </a:p>
          <a:p/>
          <a:p>
            <a:r>
              <a:t>ES:</a:t>
            </a:r>
          </a:p>
          <a:p>
            <a:r>
              <a:t>Gracias. Aquí está el primer resultado.</a:t>
            </a:r>
          </a:p>
          <a:p>
            <a:r>
              <a:t>Cada grupo es una partición. La barra azul es la regresión logística.</a:t>
            </a:r>
          </a:p>
          <a:p>
            <a:r>
              <a:t>Tiene el mejor F1-macro promedio: 0.399.</a:t>
            </a:r>
          </a:p>
          <a:p>
            <a:r>
              <a:t>Gana en las particiones A y C, y XGBoost está muy cerca en la B.</a:t>
            </a:r>
          </a:p>
          <a:p>
            <a:r>
              <a:t>La línea punteada es adivinar al azar: 0.333. La señal es pequeña, pero existe.</a:t>
            </a:r>
          </a:p>
          <a:p>
            <a:r>
              <a:t>En dinero, la regresión logística también es la mejor en la partición principal: Sharpe 0.76 y profit factor 1.21.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2 · 30 s</a:t>
            </a:r>
          </a:p>
          <a:p/>
          <a:p>
            <a:r>
              <a:t>Second result. Many studies filter the features before training.</a:t>
            </a:r>
          </a:p>
          <a:p>
            <a:r>
              <a:t>We tested the common filters: Pearson, VIF, SHAP and Spearman.</a:t>
            </a:r>
          </a:p>
          <a:p>
            <a:r>
              <a:t>In eleven of fifteen cases, keeping all 61 features was better.</a:t>
            </a:r>
          </a:p>
          <a:p>
            <a:r>
              <a:t>The model's own regularization selects features better than an external filter.</a:t>
            </a:r>
          </a:p>
          <a:p/>
          <a:p>
            <a:r>
              <a:t>ES:</a:t>
            </a:r>
          </a:p>
          <a:p>
            <a:r>
              <a:t>Segundo resultado. Muchos estudios filtran las variables antes de entrenar.</a:t>
            </a:r>
          </a:p>
          <a:p>
            <a:r>
              <a:t>Probamos los filtros comunes: Pearson, VIF, SHAP y Spearman.</a:t>
            </a:r>
          </a:p>
          <a:p>
            <a:r>
              <a:t>En 11 de 15 casos, conservar las 61 variables fue mejor.</a:t>
            </a:r>
          </a:p>
          <a:p>
            <a:r>
              <a:t>La regularización del propio modelo elige mejor que un filtro externo.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2 · 30 s</a:t>
            </a:r>
          </a:p>
          <a:p/>
          <a:p>
            <a:r>
              <a:t>Third result. We split the variation of the Sharpe ratio.</a:t>
            </a:r>
          </a:p>
          <a:p>
            <a:r>
              <a:t>The stock explains fifteen point five percent. The model explains only three point four percent.</a:t>
            </a:r>
          </a:p>
          <a:p>
            <a:r>
              <a:t>So, choosing the stock matters about four and a half times more than choosing the model.</a:t>
            </a:r>
          </a:p>
          <a:p/>
          <a:p>
            <a:r>
              <a:t>ES:</a:t>
            </a:r>
          </a:p>
          <a:p>
            <a:r>
              <a:t>Tercer resultado. Dividimos la variación del Sharpe.</a:t>
            </a:r>
          </a:p>
          <a:p>
            <a:r>
              <a:t>La acción explica 15.5 %. El modelo explica solo 3.4 %.</a:t>
            </a:r>
          </a:p>
          <a:p>
            <a:r>
              <a:t>Elegir la acción importa unas cuatro veces y media más que elegir el modelo.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2 · 45 s</a:t>
            </a:r>
          </a:p>
          <a:p/>
          <a:p>
            <a:r>
              <a:t>But was the comparison fair? The reviewers asked a good question.</a:t>
            </a:r>
          </a:p>
          <a:p>
            <a:r>
              <a:t>XGBoost had a bigger search, and the window of the networks was chosen on the test set.</a:t>
            </a:r>
          </a:p>
          <a:p>
            <a:r>
              <a:t>So we rebuilt everything. All decisions use 2024. The test year, 2025, is used only one time.</a:t>
            </a:r>
          </a:p>
          <a:p>
            <a:r>
              <a:t>All five models use the same search with Optuna, and the same 1,736 test rows.</a:t>
            </a:r>
          </a:p>
          <a:p/>
          <a:p>
            <a:r>
              <a:t>ES:</a:t>
            </a:r>
          </a:p>
          <a:p>
            <a:r>
              <a:t>¿Pero la comparación fue justa? Los revisores hicieron una buena pregunta.</a:t>
            </a:r>
          </a:p>
          <a:p>
            <a:r>
              <a:t>XGBoost tuvo una búsqueda más grande, y la ventana de las redes se eligió con la prueba.</a:t>
            </a:r>
          </a:p>
          <a:p>
            <a:r>
              <a:t>Así que rehicimos todo. Todas las decisiones usan 2024. El año de prueba, 2025, se usa una sola vez.</a:t>
            </a:r>
          </a:p>
          <a:p>
            <a:r>
              <a:t>Los cinco modelos usan la misma búsqueda con Optuna y las mismas 1,736 filas de prueba.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2 · 50 s</a:t>
            </a:r>
          </a:p>
          <a:p/>
          <a:p>
            <a:r>
              <a:t>And the result? The gap does not close.</a:t>
            </a:r>
          </a:p>
          <a:p>
            <a:r>
              <a:t>Logistic regression gets zero point four zero four, with a 95 percent confidence interval from zero point three seven nine to zero point four two eight.</a:t>
            </a:r>
          </a:p>
          <a:p>
            <a:r>
              <a:t>It is significantly better than the other four models.</a:t>
            </a:r>
          </a:p>
          <a:p>
            <a:r>
              <a:t>The networks never reduce their validation loss below the random level. A very small LSTM gives the same result as a big one.</a:t>
            </a:r>
          </a:p>
          <a:p/>
          <a:p>
            <a:r>
              <a:t>→ Now my colleague will explain why.</a:t>
            </a:r>
          </a:p>
          <a:p/>
          <a:p>
            <a:r>
              <a:t>ES:</a:t>
            </a:r>
          </a:p>
          <a:p>
            <a:r>
              <a:t>¿Y el resultado? La diferencia no se cierra.</a:t>
            </a:r>
          </a:p>
          <a:p>
            <a:r>
              <a:t>La regresión logística obtiene 0.404, con un intervalo de confianza del 95 % de 0.379 a 0.428.</a:t>
            </a:r>
          </a:p>
          <a:p>
            <a:r>
              <a:t>Es significativamente mejor que los otros cuatro modelos.</a:t>
            </a:r>
          </a:p>
          <a:p>
            <a:r>
              <a:t>Las redes nunca bajan su pérdida de validación del nivel del azar. Una LSTM muy pequeña da lo mismo que una grande.</a:t>
            </a:r>
          </a:p>
          <a:p>
            <a:r>
              <a:t>→ Ahora mi compañero(a) va a explicar por qué.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1 · 45 s</a:t>
            </a:r>
          </a:p>
          <a:p/>
          <a:p>
            <a:r>
              <a:t>Why does a simple linear model win here?</a:t>
            </a:r>
          </a:p>
          <a:p>
            <a:r>
              <a:t>First, the data is small for deep models: about ten thousand rows.</a:t>
            </a:r>
          </a:p>
          <a:p>
            <a:r>
              <a:t>Second, the one-day label is very noisy.</a:t>
            </a:r>
          </a:p>
          <a:p>
            <a:r>
              <a:t>Third, our features already summarize many days, so a linear model can use them well.</a:t>
            </a:r>
          </a:p>
          <a:p>
            <a:r>
              <a:t>We also have limitations: we test only one year, we do not include transaction costs, and we use only seven stocks from one sector.</a:t>
            </a:r>
          </a:p>
          <a:p/>
          <a:p>
            <a:r>
              <a:t>ES:</a:t>
            </a:r>
          </a:p>
          <a:p>
            <a:r>
              <a:t>¿Por qué gana aquí un modelo lineal simple?</a:t>
            </a:r>
          </a:p>
          <a:p>
            <a:r>
              <a:t>Primero, los datos son pocos para modelos profundos: unas diez mil filas.</a:t>
            </a:r>
          </a:p>
          <a:p>
            <a:r>
              <a:t>Segundo, la etiqueta de un día tiene mucho ruido.</a:t>
            </a:r>
          </a:p>
          <a:p>
            <a:r>
              <a:t>Tercero, nuestras variables ya resumen muchos días, así que un modelo lineal las aprovecha bien.</a:t>
            </a:r>
          </a:p>
          <a:p>
            <a:r>
              <a:t>También tenemos limitaciones: probamos un solo año, no incluimos costos de transacción y usamos solo siete acciones de un sector.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EXPOSITOR 1 · 35 s</a:t>
            </a:r>
          </a:p>
          <a:p/>
          <a:p>
            <a:r>
              <a:t>To finish, three messages.</a:t>
            </a:r>
          </a:p>
          <a:p>
            <a:r>
              <a:t>One: a well-regularized logistic regression is a strong and cheap baseline.</a:t>
            </a:r>
          </a:p>
          <a:p>
            <a:r>
              <a:t>Two: do not filter the features before training.</a:t>
            </a:r>
          </a:p>
          <a:p>
            <a:r>
              <a:t>Three: the stock matters more than the model.</a:t>
            </a:r>
          </a:p>
          <a:p>
            <a:r>
              <a:t>Our code and data are public. Thank you. We are happy to answer your questions.</a:t>
            </a:r>
          </a:p>
          <a:p/>
          <a:p>
            <a:r>
              <a:t>ES:</a:t>
            </a:r>
          </a:p>
          <a:p>
            <a:r>
              <a:t>Para terminar, tres mensajes.</a:t>
            </a:r>
          </a:p>
          <a:p>
            <a:r>
              <a:t>Uno: una regresión logística bien regularizada es un punto de partida fuerte y barato.</a:t>
            </a:r>
          </a:p>
          <a:p>
            <a:r>
              <a:t>Dos: no filtren las variables antes de entrenar.</a:t>
            </a:r>
          </a:p>
          <a:p>
            <a:r>
              <a:t>Tres: la acción importa más que el modelo.</a:t>
            </a:r>
          </a:p>
          <a:p>
            <a:r>
              <a:t>Nuestro código y datos son públicos. Gracias. Con gusto respondemos sus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(slide 12) · show only if a question needs it.</a:t>
            </a:r>
          </a:p>
          <a:p>
            <a:r>
              <a:t>Corrected protocol, full Table 6 (hyper-parameters, intervals, Sharpe).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(slide 13) · show only if a question needs it.</a:t>
            </a:r>
          </a:p>
          <a:p>
            <a:r>
              <a:t>Since submission: six test years, transaction costs, unseen 2026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(slide 14) · show only if a question needs it.</a:t>
            </a:r>
          </a:p>
          <a:p>
            <a:r>
              <a:t>Benchmark tables 3–5 (global, economics, per-stock).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(slide 15) · show only if a question needs it.</a:t>
            </a:r>
          </a:p>
          <a:p>
            <a:r>
              <a:t>Hyper-parameter search: trials and search space per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1E2B849-BEB8-014C-9AAD-F339D568A0B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052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amp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D5D2ACE-6A46-864F-8023-96B3EAACED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546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4FCD176-69E4-299D-875C-2828D72648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959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13508FC-2AEA-5F44-B50C-E27343F9CC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009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Elem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701EDA0A-737A-AE43-88B6-F7F2BDABE6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359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Elem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CDC8F0C0-D88E-A84A-BE01-8563F9BC13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921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8F1B6AFF-4263-324D-B760-7A8D7E20DF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564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039E5DEA-893D-DF41-A15E-ED1171AC4E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17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E78628-F0F8-7646-82C9-54A6A4870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65BC487-73DD-C841-AE4E-CEC70BC50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D198D-5AD8-5A48-A6A3-02544E5D215B}" type="datetimeFigureOut">
              <a:rPr lang="es-MX" smtClean="0"/>
              <a:t>08/10/26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387C637-E6F7-994D-8C5E-8D6AD2CEB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2EE4056-E3FA-3E4B-AFAB-5C1C1C662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8295-1EB8-C64C-AB33-7ADCE8A40A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9328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9BC3E20-36B3-3F47-A4A3-BEFC1350E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D198D-5AD8-5A48-A6A3-02544E5D215B}" type="datetimeFigureOut">
              <a:rPr lang="es-MX" smtClean="0"/>
              <a:t>08/10/26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611FD49-E98D-E044-B5B5-AD6943AAA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2BED133-354B-0A44-997A-34AB09C58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8295-1EB8-C64C-AB33-7ADCE8A40A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3903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62CD74-DF47-4F4D-9606-1625FA50A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11FD16-B7AA-2341-921E-E7F8F1B97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8D5F868-2AE3-F74E-9B6D-F2F71EBD1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C21DE2-2E3E-554B-A18F-94BC37622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D198D-5AD8-5A48-A6A3-02544E5D215B}" type="datetimeFigureOut">
              <a:rPr lang="es-MX" smtClean="0"/>
              <a:t>08/10/26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AB3AE9-E850-3843-A104-5C191C7A1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3CFCF5-FC81-5A4D-9D51-C0C6A223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8295-1EB8-C64C-AB33-7ADCE8A40A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042101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D0B575-F3AF-D642-AEC8-9770E08EE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C363167-9CA1-BF46-976D-AEAC759E81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AC87455-4066-1545-BF50-A45F2CF094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588D104-1C1B-B144-8B00-70E3EB479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D198D-5AD8-5A48-A6A3-02544E5D215B}" type="datetimeFigureOut">
              <a:rPr lang="es-MX" smtClean="0"/>
              <a:t>08/10/26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1AE73A-ACCC-0F42-851D-B807D7046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948C28E-6A01-F540-9D29-8C5EF40F5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8295-1EB8-C64C-AB33-7ADCE8A40A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7253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576F0-5299-4549-84C4-D28FEB688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933F839-71B5-4B4B-B87C-C59E4635A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6A0D41-ECBF-EB42-8FCC-0E054CC31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D198D-5AD8-5A48-A6A3-02544E5D215B}" type="datetimeFigureOut">
              <a:rPr lang="es-MX" smtClean="0"/>
              <a:t>08/10/26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536653-6D2D-E74F-9AFF-BB0F9640C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BB8241-B0BA-2845-A63E-717AC3671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8295-1EB8-C64C-AB33-7ADCE8A40A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217857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CC6CFBB-7CD5-9141-921E-FE1BDE177F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2FFB5B2-8C2A-AD4E-BEFB-17CE00739B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2B7AC8-8C6D-9649-81CA-7FB4E0995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D198D-5AD8-5A48-A6A3-02544E5D215B}" type="datetimeFigureOut">
              <a:rPr lang="es-MX" smtClean="0"/>
              <a:t>08/10/26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0FA19F-6C90-6649-B276-A78B70BCA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18009E-F6D2-1640-A3F0-47A93AB7E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38295-1EB8-C64C-AB33-7ADCE8A40A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0650293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03F9C4D-1853-E049-B06C-394842F39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FB91F7-5711-564F-9827-BD9CB87A9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/>
              <a:t>Editar los estilos de texto del patrón
Segundo nivel
Tercer nivel
Cuarto nivel
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EDF7A5-6315-1740-86D8-9A28D7A21B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D198D-5AD8-5A48-A6A3-02544E5D215B}" type="datetimeFigureOut">
              <a:rPr lang="es-MX" smtClean="0"/>
              <a:t>08/10/26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38B93E-1263-1647-B797-890E31AE5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E84611-ABAF-4149-B04B-AB15E96BA3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638295-1EB8-C64C-AB33-7ADCE8A40A72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44251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49" r:id="rId3"/>
    <p:sldLayoutId id="2147483662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128AA9-EBBE-B645-A61D-6715A0BE02D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777240" y="1417320"/>
            <a:ext cx="8138160" cy="2240280"/>
          </a:xfrm>
        </p:spPr>
        <p:txBody>
          <a:bodyPr wrap="square">
            <a:normAutofit/>
          </a:bodyPr>
          <a:lstStyle/>
          <a:p>
            <a:pPr algn="l"/>
            <a:r>
              <a:rPr lang="es-MX" sz="3000" b="1" dirty="0">
                <a:solidFill>
                  <a:schemeClr val="bg1"/>
                </a:solidFill>
              </a:rPr>
              <a:t>A Benchmark of Five Machine-Learning Architectures for Daily Trading-Signal Classification on US Tech Equities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D69D4BA-2312-F246-85C0-1B814EC340A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777240" y="3657600"/>
            <a:ext cx="7863840" cy="1600200"/>
          </a:xfrm>
        </p:spPr>
        <p:txBody>
          <a:bodyPr>
            <a:norm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es-MX" sz="1800" b="1" dirty="0">
                <a:solidFill>
                  <a:schemeClr val="bg1"/>
                </a:solidFill>
              </a:rPr>
              <a:t>J. B. Polvo Cuatianquiz¹ · A. Reyes Vera¹ · E. Juárez Carbajal²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lang="es-MX" sz="1800" b="1" dirty="0">
                <a:solidFill>
                  <a:schemeClr val="bg1"/>
                </a:solidFill>
              </a:rPr>
              <a:t>D. Reyes Ramos¹ · M. Aragón García¹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lang="es-MX" sz="1400" b="0" dirty="0">
                <a:solidFill>
                  <a:schemeClr val="bg1"/>
                </a:solidFill>
              </a:rPr>
              <a:t>¹ Escuela Superior de Cómputo (ESCOM), Instituto Politécnico Nacional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lang="es-MX" sz="1400" b="0" dirty="0">
                <a:solidFill>
                  <a:schemeClr val="bg1"/>
                </a:solidFill>
              </a:rPr>
              <a:t>² Centro de Investigación en Computación (CIC), Instituto Politécnico Nacional</a:t>
            </a:r>
          </a:p>
        </p:txBody>
      </p:sp>
      <p:sp>
        <p:nvSpPr>
          <p:cNvPr id="4" name="Logos"/>
          <p:cNvSpPr/>
          <p:nvPr/>
        </p:nvSpPr>
        <p:spPr>
          <a:xfrm>
            <a:off x="9006840" y="3749039"/>
            <a:ext cx="2514600" cy="1325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ip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3858768"/>
            <a:ext cx="1097280" cy="1097280"/>
          </a:xfrm>
          <a:prstGeom prst="rect">
            <a:avLst/>
          </a:prstGeom>
        </p:spPr>
      </p:pic>
      <p:pic>
        <p:nvPicPr>
          <p:cNvPr id="6" name="Picture 5" descr="esc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3886200"/>
            <a:ext cx="873427" cy="1051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128269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F3C88"/>
                </a:solidFill>
                <a:latin typeface="Corbel"/>
              </a:rPr>
              <a:t>Do deep networks beat simple models?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4B5563"/>
                </a:solidFill>
                <a:latin typeface="Calibri"/>
              </a:rPr>
              <a:t>Daily BUY / HOLD / SELL signals for seven large US tech stocks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What is often missing in the literature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3520440" cy="2148840"/>
          </a:xfrm>
          <a:prstGeom prst="roundRect">
            <a:avLst>
              <a:gd name="adj" fmla="val 12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22959" y="2468880"/>
            <a:ext cx="502920" cy="502920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154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937"/>
                </a:solidFill>
                <a:latin typeface="Calibri"/>
              </a:rPr>
              <a:t>Only 1–2 models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611880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B5563"/>
                </a:solidFill>
                <a:latin typeface="Calibri"/>
              </a:rPr>
              <a:t>Few studies compare deep models against a simple linear baseline.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240280"/>
            <a:ext cx="3520440" cy="2148840"/>
          </a:xfrm>
          <a:prstGeom prst="roundRect">
            <a:avLst>
              <a:gd name="adj" fmla="val 12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617720" y="2468880"/>
            <a:ext cx="502920" cy="502920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154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937"/>
                </a:solidFill>
                <a:latin typeface="Calibri"/>
              </a:rPr>
              <a:t>Accuracy or 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611880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B5563"/>
                </a:solidFill>
                <a:latin typeface="Calibri"/>
              </a:rPr>
              <a:t>These metrics do not tell if a trading strategy makes money.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240280"/>
            <a:ext cx="3520440" cy="2148840"/>
          </a:xfrm>
          <a:prstGeom prst="roundRect">
            <a:avLst>
              <a:gd name="adj" fmla="val 12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8412480" y="2468880"/>
            <a:ext cx="502920" cy="502920"/>
          </a:xfrm>
          <a:prstGeom prst="ellipse">
            <a:avLst/>
          </a:prstGeom>
          <a:solidFill>
            <a:srgbClr val="D81B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1546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937"/>
                </a:solidFill>
                <a:latin typeface="Calibri"/>
              </a:rPr>
              <a:t>Untested feature filters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611880"/>
            <a:ext cx="2971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B5563"/>
                </a:solidFill>
                <a:latin typeface="Calibri"/>
              </a:rPr>
              <a:t>Statistical pre-selection is applied without checking that it helps.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54880"/>
            <a:ext cx="11094415" cy="914400"/>
          </a:xfrm>
          <a:prstGeom prst="roundRect">
            <a:avLst>
              <a:gd name="adj" fmla="val 120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4754880"/>
            <a:ext cx="1045433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1F3C88"/>
                </a:solidFill>
                <a:latin typeface="Calibri"/>
              </a:rPr>
              <a:t>Our goal: </a:t>
            </a:r>
            <a:r>
              <a:rPr sz="2000" b="0" i="0">
                <a:solidFill>
                  <a:srgbClr val="1F2937"/>
                </a:solidFill>
                <a:latin typeface="Calibri"/>
              </a:rPr>
              <a:t>a fair five-model benchmark, scored as classification and as a trading strategy.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F3C88"/>
                </a:solidFill>
                <a:latin typeface="Corbel"/>
              </a:rPr>
              <a:t>One signal per day, seven tech stocks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4B5563"/>
                </a:solidFill>
                <a:latin typeface="Calibri"/>
              </a:rPr>
              <a:t>Free daily data · adaptive three-class 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Stocks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1188720" cy="438912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600" b="1">
                <a:solidFill>
                  <a:srgbClr val="1F3C88"/>
                </a:solidFill>
                <a:latin typeface="Calibri"/>
              </a:rPr>
              <a:t>AAPL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4519" y="2148840"/>
            <a:ext cx="1188720" cy="438912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600" b="1">
                <a:solidFill>
                  <a:srgbClr val="1F3C88"/>
                </a:solidFill>
                <a:latin typeface="Calibri"/>
              </a:rPr>
              <a:t>NVDA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2148840"/>
            <a:ext cx="1188720" cy="438912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600" b="1">
                <a:solidFill>
                  <a:srgbClr val="1F3C88"/>
                </a:solidFill>
                <a:latin typeface="Calibri"/>
              </a:rPr>
              <a:t>TSLA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79" y="2148840"/>
            <a:ext cx="1188720" cy="438912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600" b="1">
                <a:solidFill>
                  <a:srgbClr val="1F3C88"/>
                </a:solidFill>
                <a:latin typeface="Calibri"/>
              </a:rPr>
              <a:t>AMZN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15768"/>
            <a:ext cx="1188720" cy="438912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600" b="1">
                <a:solidFill>
                  <a:srgbClr val="1F3C88"/>
                </a:solidFill>
                <a:latin typeface="Calibri"/>
              </a:rPr>
              <a:t>MSFT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74519" y="2715768"/>
            <a:ext cx="1188720" cy="438912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600" b="1">
                <a:solidFill>
                  <a:srgbClr val="1F3C88"/>
                </a:solidFill>
                <a:latin typeface="Calibri"/>
              </a:rPr>
              <a:t>GOOGL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2715768"/>
            <a:ext cx="1188720" cy="438912"/>
          </a:xfrm>
          <a:prstGeom prst="roundRect">
            <a:avLst>
              <a:gd name="adj" fmla="val 50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600" b="1">
                <a:solidFill>
                  <a:srgbClr val="1F3C88"/>
                </a:solidFill>
                <a:latin typeface="Calibri"/>
              </a:rPr>
              <a:t>META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520440"/>
            <a:ext cx="384048" cy="38404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520440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Yahoo Finance,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free, 2013–2025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178808"/>
            <a:ext cx="384048" cy="38404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178808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61 technical features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in 9 families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4837176"/>
            <a:ext cx="384048" cy="384048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37176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Market context: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S&amp;P 500 (SPY) and VIX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6916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Label for day t (tomorrow's return vs. last 252 days)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194560"/>
            <a:ext cx="1463040" cy="886968"/>
          </a:xfrm>
          <a:prstGeom prst="roundRect">
            <a:avLst>
              <a:gd name="adj" fmla="val 12000"/>
            </a:avLst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00800" y="2194560"/>
            <a:ext cx="1463040" cy="8869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BUY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194560"/>
            <a:ext cx="3474720" cy="8869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top 30 %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3154680"/>
            <a:ext cx="1463040" cy="1161288"/>
          </a:xfrm>
          <a:prstGeom prst="roundRect">
            <a:avLst>
              <a:gd name="adj" fmla="val 12000"/>
            </a:avLst>
          </a:prstGeom>
          <a:solidFill>
            <a:srgbClr val="C27C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00800" y="3154680"/>
            <a:ext cx="1463040" cy="11612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HOLD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154680"/>
            <a:ext cx="3474720" cy="11612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middle 40 %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389120"/>
            <a:ext cx="1463040" cy="886968"/>
          </a:xfrm>
          <a:prstGeom prst="roundRect">
            <a:avLst>
              <a:gd name="adj" fmla="val 12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0" y="4389120"/>
            <a:ext cx="1463040" cy="8869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SELL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389120"/>
            <a:ext cx="3474720" cy="8869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 i="0">
                <a:solidFill>
                  <a:srgbClr val="1F2937"/>
                </a:solidFill>
                <a:latin typeface="Calibri"/>
              </a:rPr>
              <a:t>bottom 30 %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44068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B5563"/>
                </a:solidFill>
                <a:latin typeface="Calibri"/>
              </a:rPr>
              <a:t>Adapts to volatility · uses only past data · ≈ 30 / 40 / 30 %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F3C88"/>
                </a:solidFill>
                <a:latin typeface="Corbel"/>
              </a:rPr>
              <a:t>Five models, one protocol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4B5563"/>
                </a:solidFill>
                <a:latin typeface="Calibri"/>
              </a:rPr>
              <a:t>Same data, same features, same test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4B5563"/>
                </a:solidFill>
                <a:latin typeface="Calibri"/>
              </a:rPr>
              <a:t>Classical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1645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4B5563"/>
                </a:solidFill>
                <a:latin typeface="Calibri"/>
              </a:rPr>
              <a:t>Deep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554480" cy="47548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Logistic reg.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0280" y="2011680"/>
            <a:ext cx="1554480" cy="475488"/>
          </a:xfrm>
          <a:prstGeom prst="roundRect">
            <a:avLst>
              <a:gd name="adj" fmla="val 50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XGBoost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2011680"/>
            <a:ext cx="1554480" cy="475488"/>
          </a:xfrm>
          <a:prstGeom prst="roundRect">
            <a:avLst>
              <a:gd name="adj" fmla="val 50000"/>
            </a:avLst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LSTM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9" y="2011680"/>
            <a:ext cx="1554480" cy="475488"/>
          </a:xfrm>
          <a:prstGeom prst="roundRect">
            <a:avLst>
              <a:gd name="adj" fmla="val 50000"/>
            </a:avLst>
          </a:prstGeom>
          <a:solidFill>
            <a:srgbClr val="E87B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1-D CNN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2011680"/>
            <a:ext cx="1554480" cy="475488"/>
          </a:xfrm>
          <a:prstGeom prst="roundRect">
            <a:avLst>
              <a:gd name="adj" fmla="val 50000"/>
            </a:avLst>
          </a:prstGeom>
          <a:solidFill>
            <a:srgbClr val="ED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500" b="1">
                <a:solidFill>
                  <a:srgbClr val="1F2937"/>
                </a:solidFill>
                <a:latin typeface="Calibri"/>
              </a:rPr>
              <a:t>CNN-LSTM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4B5563"/>
                </a:solidFill>
                <a:latin typeface="Calibri"/>
              </a:rPr>
              <a:t>Three splits, same test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2461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A8F98"/>
                </a:solidFill>
                <a:latin typeface="Calibri"/>
              </a:rPr>
              <a:t>2014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32461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A8F98"/>
                </a:solidFill>
                <a:latin typeface="Calibri"/>
              </a:rPr>
              <a:t>2016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32461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A8F98"/>
                </a:solidFill>
                <a:latin typeface="Calibri"/>
              </a:rPr>
              <a:t>2018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2461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A8F98"/>
                </a:solidFill>
                <a:latin typeface="Calibri"/>
              </a:rPr>
              <a:t>2020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2461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A8F98"/>
                </a:solidFill>
                <a:latin typeface="Calibri"/>
              </a:rPr>
              <a:t>2022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32461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A8F98"/>
                </a:solidFill>
                <a:latin typeface="Calibri"/>
              </a:rPr>
              <a:t>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35240" y="32461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8A8F98"/>
                </a:solidFill>
                <a:latin typeface="Calibri"/>
              </a:rPr>
              <a:t>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584448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A · 10 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00200" y="3584448"/>
            <a:ext cx="5440680" cy="329184"/>
          </a:xfrm>
          <a:prstGeom prst="roundRect">
            <a:avLst>
              <a:gd name="adj" fmla="val 25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600200" y="3584448"/>
            <a:ext cx="54406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3584448"/>
            <a:ext cx="502919" cy="329184"/>
          </a:xfrm>
          <a:prstGeom prst="roundRect">
            <a:avLst>
              <a:gd name="adj" fmla="val 25000"/>
            </a:avLst>
          </a:prstGeom>
          <a:solidFill>
            <a:srgbClr val="F1C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086600" y="3584448"/>
            <a:ext cx="50291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val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3584448"/>
            <a:ext cx="502919" cy="329184"/>
          </a:xfrm>
          <a:prstGeom prst="roundRect">
            <a:avLst>
              <a:gd name="adj" fmla="val 25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35240" y="3584448"/>
            <a:ext cx="50291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041648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>
                <a:solidFill>
                  <a:srgbClr val="1F2937"/>
                </a:solidFill>
                <a:latin typeface="Calibri"/>
              </a:rPr>
              <a:t>B · 6 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94760" y="4041648"/>
            <a:ext cx="3246120" cy="329184"/>
          </a:xfrm>
          <a:prstGeom prst="roundRect">
            <a:avLst>
              <a:gd name="adj" fmla="val 25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794760" y="4041648"/>
            <a:ext cx="324612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4041648"/>
            <a:ext cx="502919" cy="329184"/>
          </a:xfrm>
          <a:prstGeom prst="roundRect">
            <a:avLst>
              <a:gd name="adj" fmla="val 25000"/>
            </a:avLst>
          </a:prstGeom>
          <a:solidFill>
            <a:srgbClr val="F1C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086600" y="4041648"/>
            <a:ext cx="50291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val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35240" y="4041648"/>
            <a:ext cx="502919" cy="329184"/>
          </a:xfrm>
          <a:prstGeom prst="roundRect">
            <a:avLst>
              <a:gd name="adj" fmla="val 25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635240" y="4041648"/>
            <a:ext cx="50291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498848"/>
            <a:ext cx="1005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Calibri"/>
              </a:rPr>
              <a:t>C · 4 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92040" y="4498848"/>
            <a:ext cx="2148840" cy="329184"/>
          </a:xfrm>
          <a:prstGeom prst="roundRect">
            <a:avLst>
              <a:gd name="adj" fmla="val 25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892040" y="4498848"/>
            <a:ext cx="214884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086600" y="4498848"/>
            <a:ext cx="502919" cy="329184"/>
          </a:xfrm>
          <a:prstGeom prst="roundRect">
            <a:avLst>
              <a:gd name="adj" fmla="val 25000"/>
            </a:avLst>
          </a:prstGeom>
          <a:solidFill>
            <a:srgbClr val="F1C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086600" y="4498848"/>
            <a:ext cx="50291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val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635240" y="4498848"/>
            <a:ext cx="502919" cy="329184"/>
          </a:xfrm>
          <a:prstGeom prst="roundRect">
            <a:avLst>
              <a:gd name="adj" fmla="val 25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635240" y="4498848"/>
            <a:ext cx="50291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41080" y="2880360"/>
            <a:ext cx="2999232" cy="2926080"/>
          </a:xfrm>
          <a:prstGeom prst="roundRect">
            <a:avLst>
              <a:gd name="adj" fmla="val 12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915400" y="3017520"/>
            <a:ext cx="2468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D81B60"/>
                </a:solidFill>
                <a:latin typeface="Calibri"/>
              </a:rPr>
              <a:t>120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15400" y="3749039"/>
            <a:ext cx="2514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runs: 5 models × 3 splits</a:t>
            </a:r>
          </a:p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× (1 global + 7 per stock)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400" y="4572000"/>
            <a:ext cx="2514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Main metric: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macro-F1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Plus: </a:t>
            </a:r>
            <a:r>
              <a:rPr sz="1400" b="0" i="0">
                <a:solidFill>
                  <a:srgbClr val="1F2937"/>
                </a:solidFill>
                <a:latin typeface="Calibri"/>
              </a:rPr>
              <a:t>trading simulation (Sharpe, profit factor)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F3C88"/>
                </a:solidFill>
                <a:latin typeface="Corbel"/>
              </a:rPr>
              <a:t>Result 1 · Logistic regression leads on average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4B5563"/>
                </a:solidFill>
                <a:latin typeface="Calibri"/>
              </a:rPr>
              <a:t>Macro-F1 on the 2025 test year, global models (Table 3)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508760"/>
          <a:ext cx="76809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1163116" y="4030065"/>
            <a:ext cx="6389828" cy="0"/>
          </a:xfrm>
          <a:prstGeom prst="line">
            <a:avLst/>
          </a:prstGeom>
          <a:ln w="19050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598664" y="3783177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random</a:t>
            </a:r>
          </a:p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0.333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600200"/>
            <a:ext cx="3090672" cy="1920240"/>
          </a:xfrm>
          <a:prstGeom prst="roundRect">
            <a:avLst>
              <a:gd name="adj" fmla="val 12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23960" y="1737360"/>
            <a:ext cx="26517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2A78D6"/>
                </a:solidFill>
                <a:latin typeface="Calibri"/>
              </a:rPr>
              <a:t>0.399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514600"/>
            <a:ext cx="2651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average macro-F1 of logistic regression (best)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3703320"/>
            <a:ext cx="3090672" cy="2148840"/>
          </a:xfrm>
          <a:prstGeom prst="roundRect">
            <a:avLst>
              <a:gd name="adj" fmla="val 12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23960" y="384048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Calibri"/>
              </a:rPr>
              <a:t>Exp B · trading simulation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4251960"/>
            <a:ext cx="26517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B5563"/>
                </a:solidFill>
                <a:latin typeface="Calibri"/>
              </a:rPr>
              <a:t>Sharpe  </a:t>
            </a:r>
            <a:r>
              <a:rPr sz="2200" b="1" i="0">
                <a:solidFill>
                  <a:srgbClr val="2A78D6"/>
                </a:solidFill>
                <a:latin typeface="Calibri"/>
              </a:rPr>
              <a:t>+0.76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4B5563"/>
                </a:solidFill>
                <a:latin typeface="Calibri"/>
              </a:rPr>
              <a:t>Profit factor  </a:t>
            </a:r>
            <a:r>
              <a:rPr sz="2200" b="1" i="0">
                <a:solidFill>
                  <a:srgbClr val="2A78D6"/>
                </a:solidFill>
                <a:latin typeface="Calibri"/>
              </a:rPr>
              <a:t>1.21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4B5563"/>
                </a:solidFill>
                <a:latin typeface="Calibri"/>
              </a:rPr>
              <a:t>both the highest of the five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F3C88"/>
                </a:solidFill>
                <a:latin typeface="Corbel"/>
              </a:rPr>
              <a:t>Result 2 · Do not pre-filter the features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4B5563"/>
                </a:solidFill>
                <a:latin typeface="Calibri"/>
              </a:rPr>
              <a:t>Δ macro-F1 = all 61 features − filtered features (Table 2)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508760"/>
          <a:ext cx="76809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549640" y="1600200"/>
            <a:ext cx="3090672" cy="2240280"/>
          </a:xfrm>
          <a:prstGeom prst="roundRect">
            <a:avLst>
              <a:gd name="adj" fmla="val 12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823960" y="173736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D81B60"/>
                </a:solidFill>
                <a:latin typeface="Calibri"/>
              </a:rPr>
              <a:t>11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2560320"/>
            <a:ext cx="26517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cases where keeping all 61 features is better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4023360"/>
            <a:ext cx="3090672" cy="1828800"/>
          </a:xfrm>
          <a:prstGeom prst="roundRect">
            <a:avLst>
              <a:gd name="adj" fmla="val 12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823960" y="4160520"/>
            <a:ext cx="26517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F2937"/>
                </a:solidFill>
                <a:latin typeface="Calibri"/>
              </a:rPr>
              <a:t>Filters tested: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Pearson + VIF, SHAP, Spearman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4B5563"/>
                </a:solidFill>
                <a:latin typeface="Calibri"/>
              </a:rPr>
              <a:t>The model's own regularization selects better than an external filter.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F3C88"/>
                </a:solidFill>
                <a:latin typeface="Corbel"/>
              </a:rPr>
              <a:t>Result 3 · The stock matters more than the model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4B5563"/>
                </a:solidFill>
                <a:latin typeface="Calibri"/>
              </a:rPr>
              <a:t>Share of the variation of 105 per-stock Sharpe ratios (Section 7.3)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3566160" cy="2011680"/>
          </a:xfrm>
          <a:prstGeom prst="roundRect">
            <a:avLst>
              <a:gd name="adj" fmla="val 12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1F3C88"/>
                </a:solidFill>
                <a:latin typeface="Calibri"/>
              </a:rPr>
              <a:t>15.5 %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8803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4B5563"/>
                </a:solidFill>
                <a:latin typeface="Calibri"/>
              </a:rPr>
              <a:t>explained by the stock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91640"/>
            <a:ext cx="3566160" cy="2011680"/>
          </a:xfrm>
          <a:prstGeom prst="roundRect">
            <a:avLst>
              <a:gd name="adj" fmla="val 12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09159" y="182880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 i="0">
                <a:solidFill>
                  <a:srgbClr val="EB6834"/>
                </a:solidFill>
                <a:latin typeface="Calibri"/>
              </a:rPr>
              <a:t>3.4 %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59" y="28803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4B5563"/>
                </a:solidFill>
                <a:latin typeface="Calibri"/>
              </a:rPr>
              <a:t>explained by the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91640"/>
            <a:ext cx="3410712" cy="2011680"/>
          </a:xfrm>
          <a:prstGeom prst="roundRect">
            <a:avLst>
              <a:gd name="adj" fmla="val 12000"/>
            </a:avLst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691640"/>
            <a:ext cx="2926080" cy="2011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400" b="1" i="0">
                <a:solidFill>
                  <a:srgbClr val="1F3C88"/>
                </a:solidFill>
                <a:latin typeface="Calibri"/>
              </a:rPr>
              <a:t>≈ 4.5×</a:t>
            </a:r>
          </a:p>
          <a:p>
            <a:pPr algn="l"/>
            <a:r>
              <a:rPr sz="1600" b="0" i="0">
                <a:solidFill>
                  <a:srgbClr val="4B5563"/>
                </a:solidFill>
                <a:latin typeface="Calibri"/>
              </a:rPr>
              <a:t>more from the stock than from the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86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B5563"/>
                </a:solidFill>
                <a:latin typeface="Calibri"/>
              </a:rPr>
              <a:t>Decomposition of the total sum of squares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06240"/>
            <a:ext cx="1692202" cy="548640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171963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Stock 15.5 %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68274" y="4206240"/>
            <a:ext cx="749177" cy="548640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044883" y="4206240"/>
            <a:ext cx="349778" cy="5486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3422093" y="4206240"/>
            <a:ext cx="8193529" cy="548640"/>
          </a:xfrm>
          <a:prstGeom prst="rect">
            <a:avLst/>
          </a:prstGeom>
          <a:solidFill>
            <a:srgbClr val="D4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422093" y="4206240"/>
            <a:ext cx="822096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  <a:latin typeface="Calibri"/>
              </a:rPr>
              <a:t>Interaction and noise 74.1 %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8274" y="484632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Calibri"/>
              </a:rPr>
              <a:t>Exp. 7.0 % · Model 3.4 %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57800"/>
            <a:ext cx="1109441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1F2937"/>
                </a:solidFill>
                <a:latin typeface="Calibri"/>
              </a:rPr>
              <a:t>AMZN does well with almost any model; GOOGL does badly with almost any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F3C88"/>
                </a:solidFill>
                <a:latin typeface="Corbel"/>
              </a:rPr>
              <a:t>Was it fair? We rebuilt the protocol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4B5563"/>
                </a:solidFill>
                <a:latin typeface="Calibri"/>
              </a:rPr>
              <a:t>Reviewers' request → Section 8 of the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169164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8A8F98"/>
                </a:solidFill>
                <a:latin typeface="Calibri"/>
              </a:rPr>
              <a:t>2018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15768" y="169164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8A8F98"/>
                </a:solidFill>
                <a:latin typeface="Calibri"/>
              </a:rPr>
              <a:t>2019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65576" y="169164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8A8F98"/>
                </a:solidFill>
                <a:latin typeface="Calibri"/>
              </a:rPr>
              <a:t>2020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15383" y="169164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8A8F98"/>
                </a:solidFill>
                <a:latin typeface="Calibri"/>
              </a:rPr>
              <a:t>2021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65192" y="169164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8A8F98"/>
                </a:solidFill>
                <a:latin typeface="Calibri"/>
              </a:rPr>
              <a:t>2022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169164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8A8F98"/>
                </a:solidFill>
                <a:latin typeface="Calibri"/>
              </a:rPr>
              <a:t>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8" y="169164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8A8F98"/>
                </a:solidFill>
                <a:latin typeface="Calibri"/>
              </a:rPr>
              <a:t>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14615" y="1691640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8A8F98"/>
                </a:solidFill>
                <a:latin typeface="Calibri"/>
              </a:rPr>
              <a:t>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5740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dev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7743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all decisions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65960" y="2103120"/>
            <a:ext cx="3703320" cy="457200"/>
          </a:xfrm>
          <a:prstGeom prst="roundRect">
            <a:avLst>
              <a:gd name="adj" fmla="val 25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965960" y="2103120"/>
            <a:ext cx="37033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2103120"/>
            <a:ext cx="704087" cy="457200"/>
          </a:xfrm>
          <a:prstGeom prst="roundRect">
            <a:avLst>
              <a:gd name="adj" fmla="val 25000"/>
            </a:avLst>
          </a:prstGeom>
          <a:solidFill>
            <a:srgbClr val="A9C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715000" y="2103120"/>
            <a:ext cx="70408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epoch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64808" y="2103120"/>
            <a:ext cx="704087" cy="457200"/>
          </a:xfrm>
          <a:prstGeom prst="roundRect">
            <a:avLst>
              <a:gd name="adj" fmla="val 25000"/>
            </a:avLst>
          </a:prstGeom>
          <a:solidFill>
            <a:srgbClr val="F1C3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64808" y="2103120"/>
            <a:ext cx="70408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config.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14615" y="2103120"/>
            <a:ext cx="704087" cy="457200"/>
          </a:xfrm>
          <a:prstGeom prst="roundRect">
            <a:avLst>
              <a:gd name="adj" fmla="val 25000"/>
            </a:avLst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214615" y="2103120"/>
            <a:ext cx="70408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8A8F98"/>
                </a:solidFill>
                <a:latin typeface="Calibri"/>
              </a:rPr>
              <a:t>not used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926080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final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2461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frozen config.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971800"/>
            <a:ext cx="4453128" cy="457200"/>
          </a:xfrm>
          <a:prstGeom prst="roundRect">
            <a:avLst>
              <a:gd name="adj" fmla="val 25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965960" y="2971800"/>
            <a:ext cx="445312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64808" y="2971800"/>
            <a:ext cx="704087" cy="457200"/>
          </a:xfrm>
          <a:prstGeom prst="roundRect">
            <a:avLst>
              <a:gd name="adj" fmla="val 25000"/>
            </a:avLst>
          </a:prstGeom>
          <a:solidFill>
            <a:srgbClr val="A9C9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64808" y="2971800"/>
            <a:ext cx="70408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1F2937"/>
                </a:solidFill>
                <a:latin typeface="Calibri"/>
              </a:rPr>
              <a:t>epoch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14615" y="2971800"/>
            <a:ext cx="704087" cy="457200"/>
          </a:xfrm>
          <a:prstGeom prst="roundRect">
            <a:avLst>
              <a:gd name="adj" fmla="val 25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214615" y="2971800"/>
            <a:ext cx="70408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test ×1</a:t>
            </a:r>
          </a:p>
        </p:txBody>
      </p:sp>
      <p:sp>
        <p:nvSpPr>
          <p:cNvPr id="30" name="Oval 29"/>
          <p:cNvSpPr/>
          <p:nvPr/>
        </p:nvSpPr>
        <p:spPr>
          <a:xfrm>
            <a:off x="548640" y="4059936"/>
            <a:ext cx="420624" cy="420624"/>
          </a:xfrm>
          <a:prstGeom prst="ellipse">
            <a:avLst/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023360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Same 1,736 test rows  </a:t>
            </a:r>
            <a:r>
              <a:rPr sz="1500" b="0" i="0">
                <a:solidFill>
                  <a:srgbClr val="4B5563"/>
                </a:solidFill>
                <a:latin typeface="Calibri"/>
              </a:rPr>
              <a:t>for all five models (before: networks lost the first 20–60 days)</a:t>
            </a:r>
          </a:p>
        </p:txBody>
      </p:sp>
      <p:sp>
        <p:nvSpPr>
          <p:cNvPr id="32" name="Oval 31"/>
          <p:cNvSpPr/>
          <p:nvPr/>
        </p:nvSpPr>
        <p:spPr>
          <a:xfrm>
            <a:off x="548640" y="4681728"/>
            <a:ext cx="420624" cy="420624"/>
          </a:xfrm>
          <a:prstGeom prst="ellipse">
            <a:avLst/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4645152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Same Optuna search  </a:t>
            </a:r>
            <a:r>
              <a:rPr sz="1500" b="0" i="0">
                <a:solidFill>
                  <a:srgbClr val="4B5563"/>
                </a:solidFill>
                <a:latin typeface="Calibri"/>
              </a:rPr>
              <a:t>150 trials (LR, XGBoost) · 80 trials, 17–20 hyper-parameters (networks)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" y="5303520"/>
            <a:ext cx="420624" cy="420624"/>
          </a:xfrm>
          <a:prstGeom prst="ellipse">
            <a:avLst/>
          </a:prstGeom>
          <a:solidFill>
            <a:srgbClr val="1F8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5266944"/>
            <a:ext cx="10424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No decision uses 2025  </a:t>
            </a:r>
            <a:r>
              <a:rPr sz="1500" b="0" i="0">
                <a:solidFill>
                  <a:srgbClr val="4B5563"/>
                </a:solidFill>
                <a:latin typeface="Calibri"/>
              </a:rPr>
              <a:t>the test year is evaluated only once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F3C88"/>
                </a:solidFill>
                <a:latin typeface="Corbel"/>
              </a:rPr>
              <a:t>Result 4 · The gap does not close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48640" y="987552"/>
            <a:ext cx="1109441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4B5563"/>
                </a:solidFill>
                <a:latin typeface="Calibri"/>
              </a:rPr>
              <a:t>Exp B, corrected protocol: macro-F1 with 95 % block-bootstrap intervals (Table 6)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508760"/>
          <a:ext cx="768096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5" name="Connector 4"/>
          <p:cNvCxnSpPr/>
          <p:nvPr/>
        </p:nvCxnSpPr>
        <p:spPr>
          <a:xfrm>
            <a:off x="1316736" y="4571390"/>
            <a:ext cx="6236208" cy="0"/>
          </a:xfrm>
          <a:prstGeom prst="line">
            <a:avLst/>
          </a:prstGeom>
          <a:ln w="19050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598664" y="4324502"/>
            <a:ext cx="822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random</a:t>
            </a:r>
          </a:p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0.333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49640" y="1600200"/>
            <a:ext cx="3090672" cy="2148840"/>
          </a:xfrm>
          <a:prstGeom prst="roundRect">
            <a:avLst>
              <a:gd name="adj" fmla="val 12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23960" y="1737360"/>
            <a:ext cx="2560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2A78D6"/>
                </a:solidFill>
                <a:latin typeface="Calibri"/>
              </a:rPr>
              <a:t>0.404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60" y="2514600"/>
            <a:ext cx="2560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0">
                <a:solidFill>
                  <a:srgbClr val="4B5563"/>
                </a:solidFill>
                <a:latin typeface="Calibri"/>
              </a:rPr>
              <a:t>LR [0.379, 0.428] · significantly better than each of the other four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3931920"/>
            <a:ext cx="3090672" cy="1920240"/>
          </a:xfrm>
          <a:prstGeom prst="roundRect">
            <a:avLst>
              <a:gd name="adj" fmla="val 12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23960" y="4069080"/>
            <a:ext cx="25603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2937"/>
                </a:solidFill>
                <a:latin typeface="Calibri"/>
              </a:rPr>
              <a:t>Networks: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validation loss never below ln 3 = 1.099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F2937"/>
                </a:solidFill>
                <a:latin typeface="Calibri"/>
              </a:rPr>
              <a:t>592 k → 10 k parameters: </a:t>
            </a:r>
            <a:r>
              <a:rPr sz="1500" b="0" i="0">
                <a:solidFill>
                  <a:srgbClr val="1F2937"/>
                </a:solidFill>
                <a:latin typeface="Calibri"/>
              </a:rPr>
              <a:t>same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623560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B5563"/>
                </a:solidFill>
                <a:latin typeface="Calibri"/>
              </a:rPr>
              <a:t>Dark part: lower bound → macro-F1 · light part: macro-F1 → upper bound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F3C88"/>
                </a:solidFill>
                <a:latin typeface="Corbel"/>
              </a:rPr>
              <a:t>Why does a linear model win here?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520440" cy="2103120"/>
          </a:xfrm>
          <a:prstGeom prst="roundRect">
            <a:avLst>
              <a:gd name="adj" fmla="val 12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22959" y="1554480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2402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937"/>
                </a:solidFill>
                <a:latin typeface="Calibri"/>
              </a:rPr>
              <a:t>Small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69748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B5563"/>
                </a:solidFill>
                <a:latin typeface="Calibri"/>
              </a:rPr>
              <a:t>≈ 10,500 training rows vs. 10⁵–10⁶ network parameters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325880"/>
            <a:ext cx="3520440" cy="2103120"/>
          </a:xfrm>
          <a:prstGeom prst="roundRect">
            <a:avLst>
              <a:gd name="adj" fmla="val 12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4617720" y="1554480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2402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937"/>
                </a:solidFill>
                <a:latin typeface="Calibri"/>
              </a:rPr>
              <a:t>Noisy label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69748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B5563"/>
                </a:solidFill>
                <a:latin typeface="Calibri"/>
              </a:rPr>
              <a:t>one-day direction is close to random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25880"/>
            <a:ext cx="3520440" cy="2103120"/>
          </a:xfrm>
          <a:prstGeom prst="roundRect">
            <a:avLst>
              <a:gd name="adj" fmla="val 12000"/>
            </a:avLst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8412480" y="1554480"/>
            <a:ext cx="502920" cy="502920"/>
          </a:xfrm>
          <a:prstGeom prst="ellipse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240280"/>
            <a:ext cx="2971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F2937"/>
                </a:solidFill>
                <a:latin typeface="Calibri"/>
              </a:rPr>
              <a:t>Rich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697480"/>
            <a:ext cx="29718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B5563"/>
                </a:solidFill>
                <a:latin typeface="Calibri"/>
              </a:rPr>
              <a:t>indicators already summarize many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1F2937"/>
                </a:solidFill>
                <a:latin typeface="Calibri"/>
              </a:rPr>
              <a:t>Limitations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60520"/>
            <a:ext cx="3520440" cy="548640"/>
          </a:xfrm>
          <a:prstGeom prst="roundRect">
            <a:avLst>
              <a:gd name="adj" fmla="val 50000"/>
            </a:avLst>
          </a:prstGeom>
          <a:solidFill>
            <a:srgbClr val="FD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600" b="1">
                <a:solidFill>
                  <a:srgbClr val="9A3412"/>
                </a:solidFill>
                <a:latin typeface="Calibri"/>
              </a:rPr>
              <a:t>One test year (2025)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4160520"/>
            <a:ext cx="3520440" cy="548640"/>
          </a:xfrm>
          <a:prstGeom prst="roundRect">
            <a:avLst>
              <a:gd name="adj" fmla="val 50000"/>
            </a:avLst>
          </a:prstGeom>
          <a:solidFill>
            <a:srgbClr val="FD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600" b="1">
                <a:solidFill>
                  <a:srgbClr val="9A3412"/>
                </a:solidFill>
                <a:latin typeface="Calibri"/>
              </a:rPr>
              <a:t>No transaction costs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4160520"/>
            <a:ext cx="3520440" cy="548640"/>
          </a:xfrm>
          <a:prstGeom prst="roundRect">
            <a:avLst>
              <a:gd name="adj" fmla="val 50000"/>
            </a:avLst>
          </a:prstGeom>
          <a:solidFill>
            <a:srgbClr val="FD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1600" b="1">
                <a:solidFill>
                  <a:srgbClr val="9A3412"/>
                </a:solidFill>
                <a:latin typeface="Calibri"/>
              </a:rPr>
              <a:t>Seven stocks, one sector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8348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Calibri"/>
              </a:rPr>
              <a:t>Same conclusion in the literature: </a:t>
            </a:r>
            <a:r>
              <a:rPr sz="1500" b="0" i="0">
                <a:solidFill>
                  <a:srgbClr val="4B5563"/>
                </a:solidFill>
                <a:latin typeface="Calibri"/>
              </a:rPr>
              <a:t>tree and linear models match deep networks on tabular data (Grinsztajn et al., 2022); networks win with ~30,000 stocks and 60 years (Gu, Kelly and Xiu, 2020).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325880"/>
            <a:ext cx="7772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Takeaways</a:t>
            </a:r>
          </a:p>
        </p:txBody>
      </p:sp>
      <p:sp>
        <p:nvSpPr>
          <p:cNvPr id="3" name="Oval 2"/>
          <p:cNvSpPr/>
          <p:nvPr/>
        </p:nvSpPr>
        <p:spPr>
          <a:xfrm>
            <a:off x="777240" y="214884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F3C88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2148840"/>
            <a:ext cx="7223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 well-regularized logistic regression is a strong and cheap baseline.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292608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F3C88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926080"/>
            <a:ext cx="7223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Do not filter the features before training.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370332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F3C88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703320"/>
            <a:ext cx="7223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The stock matters more than the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7200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Thank you · Questions?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2064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Code and data: github.com/barudust/TT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F3C88"/>
                </a:solidFill>
                <a:latin typeface="Corbel"/>
              </a:rPr>
              <a:t>Backup · Corrected protocol, Exp B (Table 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463040"/>
                <a:gridCol w="1463040"/>
                <a:gridCol w="2011680"/>
                <a:gridCol w="146304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T="36576" marB="36576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Trials</a:t>
                      </a:r>
                    </a:p>
                  </a:txBody>
                  <a:tcPr marT="36576" marB="36576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Hyper-param.</a:t>
                      </a:r>
                    </a:p>
                  </a:txBody>
                  <a:tcPr marT="36576" marB="36576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 marT="36576" marB="36576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95 % CI</a:t>
                      </a:r>
                    </a:p>
                  </a:txBody>
                  <a:tcPr marT="36576" marB="36576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Δ vs. Sec. 7</a:t>
                      </a:r>
                    </a:p>
                  </a:txBody>
                  <a:tcPr marT="36576" marB="36576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Sharpe</a:t>
                      </a:r>
                    </a:p>
                  </a:txBody>
                  <a:tcPr marT="36576" marB="36576">
                    <a:solidFill>
                      <a:srgbClr val="1F3C8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LR</a:t>
                      </a:r>
                    </a:p>
                  </a:txBody>
                  <a:tcPr marT="36576" marB="36576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 marT="36576" marB="36576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36576" marB="36576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0.404</a:t>
                      </a:r>
                    </a:p>
                  </a:txBody>
                  <a:tcPr marT="36576" marB="36576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[0.379, 0.428]</a:t>
                      </a:r>
                    </a:p>
                  </a:txBody>
                  <a:tcPr marT="36576" marB="36576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+0.019</a:t>
                      </a:r>
                    </a:p>
                  </a:txBody>
                  <a:tcPr marT="36576" marB="36576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1F2937"/>
                          </a:solidFill>
                          <a:latin typeface="Calibri"/>
                        </a:rPr>
                        <a:t>+0.895</a:t>
                      </a:r>
                    </a:p>
                  </a:txBody>
                  <a:tcPr marT="36576" marB="36576">
                    <a:solidFill>
                      <a:srgbClr val="EE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CNN-LSTM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0.372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[0.346, 0.395]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−0.011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−0.074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0.369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[0.341, 0.395]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−0.001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−0.345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0.359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[0.334, 0.381]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−0.027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+0.462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1-D CNN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80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0.359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[0.332, 0.386]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+0.016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−0.459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886200"/>
            <a:ext cx="11094415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Paired differences of LR (all exclude zero):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+0.045 XGBoost · +0.035 LSTM · +0.031 CNN-LSTM · +0.045 1-D CNN.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4B5563"/>
                </a:solidFill>
                <a:latin typeface="Calibri"/>
              </a:rPr>
              <a:t>None of the six differences among the other four models is significant.</a:t>
            </a:r>
          </a:p>
          <a:p>
            <a:pPr algn="l">
              <a:spcAft>
                <a:spcPts val="8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Biggest lever for the networks: </a:t>
            </a:r>
            <a:r>
              <a:rPr sz="1600" b="0" i="0">
                <a:solidFill>
                  <a:srgbClr val="4B5563"/>
                </a:solidFill>
                <a:latin typeface="Calibri"/>
              </a:rPr>
              <a:t>choosing the epoch by validation F1 (+0.059 for the LSTM). Retraining them on train + validation makes them worse (−0.024 to −0.047).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F3C88"/>
                </a:solidFill>
                <a:latin typeface="Corbel"/>
              </a:rPr>
              <a:t>Backup · Since submission (not in the paper)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71323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T="36576" marB="36576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T="36576" marB="36576">
                    <a:solidFill>
                      <a:srgbClr val="1F3C8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Six test years, 2020–2025 (fixed configurations)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LR 0.360 · XGBoost 0.356 (difference not significant) · networks 0.326–0.338 (significantly lower)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Transaction costs, 10 basis points (Exp B, 2025)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Sharpe: LR +0.89 → +0.62 · XGBoost +0.46 → +0.01 (turnover 0.38 vs. 0.65)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Unseen data, Jan–Oct 2026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LR first in macro-F1 (0.346), not significant vs. XGBoost, LSTM, CNN-LSTM; 1-D CNN and LSTM had a higher Sharpe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Eight metrics on the same rows (2025)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2937"/>
                          </a:solidFill>
                          <a:latin typeface="Calibri"/>
                        </a:rPr>
                        <a:t>LR best in all eight in A, B and C (F1, accuracy, balanced acc., kappa, AUC, log-loss, Sharpe 0 / 10 bp)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16052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4B5563"/>
                </a:solidFill>
                <a:latin typeface="Calibri"/>
              </a:rPr>
              <a:t>Same conclusion: classical regularized models match or beat the networks; LR vs. XGBoost is a tie over six years.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F3C88"/>
                </a:solidFill>
                <a:latin typeface="Corbel"/>
              </a:rPr>
              <a:t>Backup · Benchmark tables (Section 7)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539496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914400"/>
                <a:gridCol w="91440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Global</a:t>
                      </a:r>
                    </a:p>
                  </a:txBody>
                  <a:tcPr marT="36576" marB="36576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T="36576" marB="36576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T="36576" marB="36576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36576" marB="36576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Avg</a:t>
                      </a:r>
                    </a:p>
                  </a:txBody>
                  <a:tcPr marT="36576" marB="36576">
                    <a:solidFill>
                      <a:srgbClr val="1F3C8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LR</a:t>
                      </a:r>
                    </a:p>
                  </a:txBody>
                  <a:tcPr marT="36576" marB="36576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0.411</a:t>
                      </a:r>
                    </a:p>
                  </a:txBody>
                  <a:tcPr marT="36576" marB="36576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0.385</a:t>
                      </a:r>
                    </a:p>
                  </a:txBody>
                  <a:tcPr marT="36576" marB="36576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0.401</a:t>
                      </a:r>
                    </a:p>
                  </a:txBody>
                  <a:tcPr marT="36576" marB="36576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0.399</a:t>
                      </a:r>
                    </a:p>
                  </a:txBody>
                  <a:tcPr marT="36576" marB="36576">
                    <a:solidFill>
                      <a:srgbClr val="EE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0.396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0.386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0.373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0.385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0.389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0.370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0.370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0.376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CNN-LSTM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0.376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0.384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0.371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0.377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1-D CNN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0.361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0.343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0.373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0.359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245352" y="1234440"/>
          <a:ext cx="539496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914400"/>
                <a:gridCol w="91440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Per stock</a:t>
                      </a:r>
                    </a:p>
                  </a:txBody>
                  <a:tcPr marT="36576" marB="36576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T="36576" marB="36576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T="36576" marB="36576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T="36576" marB="36576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Avg</a:t>
                      </a:r>
                    </a:p>
                  </a:txBody>
                  <a:tcPr marT="36576" marB="36576">
                    <a:solidFill>
                      <a:srgbClr val="1F3C8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LR</a:t>
                      </a:r>
                    </a:p>
                  </a:txBody>
                  <a:tcPr marT="36576" marB="36576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0.411</a:t>
                      </a:r>
                    </a:p>
                  </a:txBody>
                  <a:tcPr marT="36576" marB="36576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0.392</a:t>
                      </a:r>
                    </a:p>
                  </a:txBody>
                  <a:tcPr marT="36576" marB="36576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0.359</a:t>
                      </a:r>
                    </a:p>
                  </a:txBody>
                  <a:tcPr marT="36576" marB="36576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F2937"/>
                          </a:solidFill>
                          <a:latin typeface="Calibri"/>
                        </a:rPr>
                        <a:t>0.387</a:t>
                      </a:r>
                    </a:p>
                  </a:txBody>
                  <a:tcPr marT="36576" marB="36576">
                    <a:solidFill>
                      <a:srgbClr val="EE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0.376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0.370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0.352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0.366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CNN-LSTM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0.368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0.342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0.356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0.355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0.314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0.353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0.326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0.331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1-D CNN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0.378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0.332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0.280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F2937"/>
                          </a:solidFill>
                          <a:latin typeface="Calibri"/>
                        </a:rPr>
                        <a:t>0.330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3611880"/>
          <a:ext cx="1106424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645920"/>
                <a:gridCol w="1645920"/>
                <a:gridCol w="1645920"/>
                <a:gridCol w="164592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Exp B economics</a:t>
                      </a:r>
                    </a:p>
                  </a:txBody>
                  <a:tcPr marT="36576" marB="36576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T="36576" marB="36576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Win rate</a:t>
                      </a:r>
                    </a:p>
                  </a:txBody>
                  <a:tcPr marT="36576" marB="36576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Profit factor</a:t>
                      </a:r>
                    </a:p>
                  </a:txBody>
                  <a:tcPr marT="36576" marB="36576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Max DD</a:t>
                      </a:r>
                    </a:p>
                  </a:txBody>
                  <a:tcPr marT="36576" marB="36576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Sharpe</a:t>
                      </a:r>
                    </a:p>
                  </a:txBody>
                  <a:tcPr marT="36576" marB="36576">
                    <a:solidFill>
                      <a:srgbClr val="1F3C8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LR</a:t>
                      </a:r>
                    </a:p>
                  </a:txBody>
                  <a:tcPr marT="36576" marB="36576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0.385</a:t>
                      </a:r>
                    </a:p>
                  </a:txBody>
                  <a:tcPr marT="36576" marB="36576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0.497</a:t>
                      </a:r>
                    </a:p>
                  </a:txBody>
                  <a:tcPr marT="36576" marB="36576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1.210</a:t>
                      </a:r>
                    </a:p>
                  </a:txBody>
                  <a:tcPr marT="36576" marB="36576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−0.470</a:t>
                      </a:r>
                    </a:p>
                  </a:txBody>
                  <a:tcPr marT="36576" marB="36576">
                    <a:solidFill>
                      <a:srgbClr val="EEF3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937"/>
                          </a:solidFill>
                          <a:latin typeface="Calibri"/>
                        </a:rPr>
                        <a:t>+0.755</a:t>
                      </a:r>
                    </a:p>
                  </a:txBody>
                  <a:tcPr marT="36576" marB="36576">
                    <a:solidFill>
                      <a:srgbClr val="EEF3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0.386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0.500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1.083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−0.432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+0.345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CNN-LSTM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0.384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0.505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1.041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−0.403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+0.147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0.370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0.491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1.120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−0.406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+0.433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1-D CNN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0.343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0.510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1.031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−0.434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+0.121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347472"/>
            <a:ext cx="1109441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F3C88"/>
                </a:solidFill>
                <a:latin typeface="Corbel"/>
              </a:rPr>
              <a:t>Backup · Hyper-parameter search (Section 8)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34440"/>
          <a:ext cx="1106424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371600"/>
                <a:gridCol w="1280160"/>
                <a:gridCol w="3931920"/>
                <a:gridCol w="30175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T="36576" marB="36576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Trials</a:t>
                      </a:r>
                    </a:p>
                  </a:txBody>
                  <a:tcPr marT="36576" marB="36576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Hyper-param.</a:t>
                      </a:r>
                    </a:p>
                  </a:txBody>
                  <a:tcPr marT="36576" marB="36576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Main search space</a:t>
                      </a:r>
                    </a:p>
                  </a:txBody>
                  <a:tcPr marT="36576" marB="36576">
                    <a:solidFill>
                      <a:srgbClr val="1F3C8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Selected</a:t>
                      </a:r>
                    </a:p>
                  </a:txBody>
                  <a:tcPr marT="36576" marB="36576">
                    <a:solidFill>
                      <a:srgbClr val="1F3C8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LR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penalty L1 / L2 / elastic-net, C ∈ [1e-4, 1e3], scaler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L2, C = 0.000165, robust scaler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150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trees, depth, learning rate, subsampling, L1/L2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485 trees, depth 9, lr 0.074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LSTM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80 (54 done)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layers, units, bidirectional, pooling, look-back, loss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 × 118, attention, 10 days, focal loss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1-D CNN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80 (53 done)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blocks, filters, kernel, dilation, pooling, look-back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50 → 100 filters, kernel 7, 10 days</a:t>
                      </a:r>
                    </a:p>
                  </a:txBody>
                  <a:tcPr marT="36576" marB="36576">
                    <a:solidFill>
                      <a:srgbClr val="F6F7F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CNN-LSTM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80 (74 done)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conv filters, kernel, LSTM units, look-back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Calibri"/>
                        </a:rPr>
                        <a:t>77 → 154 filters, LSTM 136, 20 days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448056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F2937"/>
                </a:solidFill>
                <a:latin typeface="Calibri"/>
              </a:rPr>
              <a:t>Same TPE sampler (seed 42), same decision year (2024), objective macro-F1. </a:t>
            </a:r>
            <a:r>
              <a:rPr sz="1500" b="0" i="0">
                <a:solidFill>
                  <a:srgbClr val="4B5563"/>
                </a:solidFill>
                <a:latin typeface="Calibri"/>
              </a:rPr>
              <a:t>One network training takes 7–12 s on a consumer GPU: compute was not the limit. Symmetric in procedure, not in dimension.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Violeta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CAI2026_Author_Template (1)" id="{4C9E916A-1FB4-384E-8D43-D0E7F3730317}" vid="{2A517D5F-C4B7-1748-9307-8980019E187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</TotalTime>
  <Words>6</Words>
  <Application>Microsoft Macintosh PowerPoint</Application>
  <PresentationFormat>Panorámica</PresentationFormat>
  <Paragraphs>3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Corbel</vt:lpstr>
      <vt:lpstr>Tema de Office</vt:lpstr>
      <vt:lpstr>Title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Benchmark of Five Machine-Learning Architectures for Daily Trading-Signal Classification on US Tech Equities</dc:title>
  <dc:creator>J. B. Polvo Cuatianquiz et al.</dc:creator>
  <cp:lastModifiedBy>Omar Saldivar</cp:lastModifiedBy>
  <cp:revision>3</cp:revision>
  <dcterms:created xsi:type="dcterms:W3CDTF">2026-08-05T22:19:54Z</dcterms:created>
  <dcterms:modified xsi:type="dcterms:W3CDTF">2026-10-08T17:39:22Z</dcterms:modified>
</cp:coreProperties>
</file>